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Detection / Trigger Rate by Scenario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 (%)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34A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3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4A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SC-01
Clear</c:v>
                  </c:pt>
                  <c:pt idx="1">
                    <c:v>SC-02
Audio Only</c:v>
                  </c:pt>
                  <c:pt idx="2">
                    <c:v>SC-03
Visual Only</c:v>
                  </c:pt>
                  <c:pt idx="3">
                    <c:v>SC-04
High Traffic</c:v>
                  </c:pt>
                  <c:pt idx="4">
                    <c:v>SC-05
Multi-Hop</c:v>
                  </c:pt>
                  <c:pt idx="5">
                    <c:v>SC-06
False 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99.1</c:v>
                </c:pt>
                <c:pt idx="1">
                  <c:v>91.3</c:v>
                </c:pt>
                <c:pt idx="2">
                  <c:v>88.7</c:v>
                </c:pt>
                <c:pt idx="3">
                  <c:v>93.5</c:v>
                </c:pt>
                <c:pt idx="4">
                  <c:v>95.2</c:v>
                </c:pt>
                <c:pt idx="5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400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OmniSense Emergency Priority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Framework &amp; Testing Methodology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4114800" cy="2743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 ambulance detection, sensor fusion, and green corridor activation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deploying to real intersections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2560320" cy="822960"/>
          </a:xfrm>
          <a:prstGeom prst="rect">
            <a:avLst/>
          </a:prstGeom>
          <a:solidFill>
            <a:srgbClr val="1A73E8">
              <a:alpha val="2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+ 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3467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926080"/>
            <a:ext cx="2560320" cy="8229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Cases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33467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2926080"/>
            <a:ext cx="2560320" cy="822960"/>
          </a:xfrm>
          <a:prstGeom prst="rect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89320" y="33467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023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is performed BEFORE real-world deployment to validate detection accuracy, system latency,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signal optimization correctness in a risk-free environment.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5093208"/>
            <a:ext cx="822960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FRAMEWORK  |  ENGINEERING REFERENCE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Simulate?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purpose of simulation in OmniSense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64008" cy="19202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868680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8912" y="822960"/>
            <a:ext cx="384048" cy="384048"/>
          </a:xfrm>
          <a:prstGeom prst="rect">
            <a:avLst/>
          </a:prstGeom>
          <a:solidFill>
            <a:srgbClr val="1A73E8">
              <a:alpha val="18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8412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Ambulances Needed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32688" y="121615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test with actual emergency vehicles at live intersections repeatedly. Simulation lets us replay hundreds of scenarios safely and instantly.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68580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68580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868680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73752" y="822960"/>
            <a:ext cx="384048" cy="384048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67528" y="8412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Deploying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67528" y="121615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— detection latency, false positives, signal response time — is measured in simulation first, so we know what to expect in production.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274320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743200"/>
            <a:ext cx="64008" cy="1920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926080"/>
            <a:ext cx="384048" cy="3840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38912" y="2880360"/>
            <a:ext cx="384048" cy="384048"/>
          </a:xfrm>
          <a:prstGeom prst="rect">
            <a:avLst/>
          </a:prstGeom>
          <a:solidFill>
            <a:srgbClr val="534AB7">
              <a:alpha val="18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32688" y="28986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Parameters Freely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32688" y="327355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weights, fusion thresholds, and signal timing can be adjusted and instantly re-tested without touching physical hardware.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274320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2743200"/>
            <a:ext cx="64008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926080"/>
            <a:ext cx="384048" cy="38404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873752" y="2880360"/>
            <a:ext cx="384048" cy="384048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367528" y="28986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Correctness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67528" y="327355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generate ground-truth scenarios where we know exactly when the ambulance is present, so we can verify the system's decisions are correct.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Tools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2743200" cy="4206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40080"/>
            <a:ext cx="274320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7498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38328" y="1207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Urban Mobility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" y="1508760"/>
            <a:ext cx="1737360" cy="274320"/>
          </a:xfrm>
          <a:prstGeom prst="rect">
            <a:avLst/>
          </a:prstGeom>
          <a:solidFill>
            <a:srgbClr val="1A73E8">
              <a:alpha val="25000"/>
            </a:srgbClr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Simulator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8745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models entire road networks with real intersection geometry, traffic signal phases, vehicle types (cars, buses, ambulances), and pedestrians. It produces realistic vehicle movement data that feeds our signal controller.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used by research worldwide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ambulance vehicle class with priority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real-time position + speed data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signal phases (green/yellow/red)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45536" y="640080"/>
            <a:ext cx="2743200" cy="4206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64008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7498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82696" y="1207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 Interface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82696" y="1508760"/>
            <a:ext cx="1737360" cy="274320"/>
          </a:xfrm>
          <a:prstGeom prst="rect">
            <a:avLst/>
          </a:prstGeom>
          <a:solidFill>
            <a:srgbClr val="0D9488">
              <a:alpha val="2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API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82696" y="18745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 is SUMO's Python API. It lets our OmniSense software read vehicle positions and dynamically change traffic signal phases in real time during simulation — exactly as it would in production.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310896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command interface to SUMO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vehicle positions at each time step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green/red commands to signals live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simulation with our detection engine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9904" y="640080"/>
            <a:ext cx="2743200" cy="4206240"/>
          </a:xfrm>
          <a:prstGeom prst="rect">
            <a:avLst/>
          </a:prstGeom>
          <a:solidFill>
            <a:srgbClr val="112240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9904" y="640080"/>
            <a:ext cx="274320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7498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27064" y="1207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Orchestration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27064" y="1508760"/>
            <a:ext cx="1737360" cy="274320"/>
          </a:xfrm>
          <a:prstGeom prst="rect">
            <a:avLst/>
          </a:prstGeom>
          <a:solidFill>
            <a:srgbClr val="534AB7">
              <a:alpha val="25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+ Fusion Emulator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27064" y="18745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emulate all three sensor types — generating synthetic audio feature vectors, bounding-box detections, and GPS coordinates — then run them through the actual fusion and AI decision code.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310896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Emulates acoustic, visual and GPS sensors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real fusion + AI decision code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all events to CSV / JSON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test scenarios automatically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9469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+ TraCI + Python together create a complete simulation environment for OmniSense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Simulation Environment Is Built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49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6344" y="1252728"/>
            <a:ext cx="36576" cy="274320"/>
          </a:xfrm>
          <a:prstGeom prst="rect">
            <a:avLst/>
          </a:prstGeom>
          <a:solidFill>
            <a:srgbClr val="1A73E8">
              <a:alpha val="4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58368"/>
            <a:ext cx="79552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658368"/>
            <a:ext cx="64008" cy="71323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7315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98755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intersection maps from OpenStreetMap are imported into SUMO using the netconvert tool. This gives us accurate lane counts, turn rules, and signal positions.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" y="2075688"/>
            <a:ext cx="36576" cy="2743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481328"/>
            <a:ext cx="79552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1481328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Flows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81051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 traffic demand: how many cars enter each road per minute. SUMO randomly generates individual vehicles following this demand throughout the simulation.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395728"/>
            <a:ext cx="502920" cy="502920"/>
          </a:xfrm>
          <a:prstGeom prst="ellipse">
            <a:avLst/>
          </a:prstGeom>
          <a:solidFill>
            <a:srgbClr val="DC4A26"/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6344" y="2898648"/>
            <a:ext cx="36576" cy="274320"/>
          </a:xfrm>
          <a:prstGeom prst="rect">
            <a:avLst/>
          </a:prstGeom>
          <a:solidFill>
            <a:srgbClr val="DC4A26">
              <a:alpha val="40000"/>
            </a:srgbClr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304288"/>
            <a:ext cx="79552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2304288"/>
            <a:ext cx="64008" cy="713232"/>
          </a:xfrm>
          <a:prstGeom prst="rect">
            <a:avLst/>
          </a:prstGeom>
          <a:solidFill>
            <a:srgbClr val="DC4A26"/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377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Injection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63347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controlled time and road entry point, a special ambulance vehicle is inserted with a pre-planned route. This is our ground-truth event.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218688"/>
            <a:ext cx="502920" cy="50292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6344" y="3721608"/>
            <a:ext cx="36576" cy="274320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3127248"/>
            <a:ext cx="79552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3127248"/>
            <a:ext cx="64008" cy="7132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3200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Emulation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45643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ambulance and vehicle positions from TraCI each second, then generates synthetic sensor readings: audio feature vectors, visual bounding boxes, GPS coordinates.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404164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3950208"/>
            <a:ext cx="79552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" y="3950208"/>
            <a:ext cx="64008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40233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427939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OmniSense fusion engine and signal optimizer receive these sensor readings and issue commands back through TraCI to change actual signal phases in the running simulation.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Emulation — What Each Sensor Produces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21792"/>
            <a:ext cx="27432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21792"/>
            <a:ext cx="274320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749808"/>
            <a:ext cx="502920" cy="502920"/>
          </a:xfrm>
          <a:prstGeom prst="ellipse">
            <a:avLst/>
          </a:prstGeom>
          <a:solidFill>
            <a:srgbClr val="1A73E8">
              <a:alpha val="25000"/>
            </a:srgbClr>
          </a:solidFill>
          <a:ln w="6350">
            <a:solidFill>
              <a:srgbClr val="1A73E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81381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74980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Sensor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50976" y="10241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Detection Emulator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38328" y="1371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emulated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38328" y="1627632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generates a synthetic feature vector that would be output by a real audio preprocessor. When the ambulance is within the sensor's range in the simulation, the vector contains siren-like frequency peaks (500–2000 Hz). Outside range, it contains ambient road noise.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38328" y="2880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8328" y="31363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128-dimension MFCC feature array + a simulated SNR value, fed to the audio classifier.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2608" y="3913632"/>
            <a:ext cx="2560320" cy="713232"/>
          </a:xfrm>
          <a:prstGeom prst="rect">
            <a:avLst/>
          </a:prstGeom>
          <a:solidFill>
            <a:srgbClr val="1A73E8">
              <a:alpha val="12000"/>
            </a:srgbClr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9502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threshold: 200m radius from sensor position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45536" y="621792"/>
            <a:ext cx="27432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45536" y="621792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82696" y="749808"/>
            <a:ext cx="502920" cy="502920"/>
          </a:xfrm>
          <a:prstGeom prst="ellipse">
            <a:avLst/>
          </a:prstGeom>
          <a:solidFill>
            <a:srgbClr val="0D9488">
              <a:alpha val="25000"/>
            </a:srgbClr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813816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95344" y="74980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895344" y="10241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Detection Emulator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282696" y="1371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emulated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282696" y="1627632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real video frames, Python uses the vehicle type and position from SUMO to decide what a YOLOv8 detector 'would have seen'. When an ambulance is in the camera's field of view, it generates a bounding box with realistic confidence noise.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282696" y="2880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282696" y="31363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bounding box [x, y, w, h] + class label 'ambulance' + confidence score (0.7–0.98 with noise).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236976" y="3913632"/>
            <a:ext cx="2560320" cy="713232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10128" y="39502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FOV: 60° cone, 80m range; occlusion modelled probabilistically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89904" y="621792"/>
            <a:ext cx="27432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089904" y="621792"/>
            <a:ext cx="274320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227064" y="749808"/>
            <a:ext cx="502920" cy="502920"/>
          </a:xfrm>
          <a:prstGeom prst="ellipse">
            <a:avLst/>
          </a:prstGeom>
          <a:solidFill>
            <a:srgbClr val="534AB7">
              <a:alpha val="25000"/>
            </a:srgbClr>
          </a:solidFill>
          <a:ln w="6350">
            <a:solidFill>
              <a:srgbClr val="534AB7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813816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39712" y="74980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V2X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839712" y="10241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Emulator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227064" y="1371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emulated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227064" y="1627632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 provides exact vehicle coordinates each timestep. Python adds realistic GPS noise (±3m Gaussian) and formats the data as V2X broadcast messages. This is the most accurate of the three emulated sensors.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6227064" y="2880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227064" y="31363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heading, speed, vehicle class — broadcast every 100ms to the fusion engine.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6181344" y="3913632"/>
            <a:ext cx="2560320" cy="713232"/>
          </a:xfrm>
          <a:prstGeom prst="rect">
            <a:avLst/>
          </a:prstGeom>
          <a:solidFill>
            <a:srgbClr val="534AB7">
              <a:alpha val="12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254496" y="39502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noise: σ = 3m; V2X packet loss: 2% random drop simulated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Scenarios — What We Test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is run 50 times with randomised traffic to produce statistically reliable results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41605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40080"/>
            <a:ext cx="594360" cy="1353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9264" y="685800"/>
            <a:ext cx="1005840" cy="256032"/>
          </a:xfrm>
          <a:prstGeom prst="rect">
            <a:avLst/>
          </a:prstGeom>
          <a:solidFill>
            <a:srgbClr val="1A73E8">
              <a:alpha val="2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685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9264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Conditions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9264" y="12618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ambulance, low traffic, all sensors working. Baseline scenario to confirm basic system operation.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640080"/>
            <a:ext cx="41605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640080"/>
            <a:ext cx="594360" cy="1353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0972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685800"/>
            <a:ext cx="1005840" cy="25603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685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13248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Only Available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13248" y="12618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 is blocked (covered sensor). System must detect using acoustic + GPS only. Tests sensor redundancy.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103120"/>
            <a:ext cx="41605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103120"/>
            <a:ext cx="594360" cy="1353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5603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9264" y="2148840"/>
            <a:ext cx="1005840" cy="25603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2148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9264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Only Available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" y="27249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signal lost. No V2X broadcast. System must fuse acoustic + visual signals. Tests 2-of-3 fusion path.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0016" y="2103120"/>
            <a:ext cx="41605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2103120"/>
            <a:ext cx="594360" cy="1353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25603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13248" y="2148840"/>
            <a:ext cx="1005840" cy="256032"/>
          </a:xfrm>
          <a:prstGeom prst="rect">
            <a:avLst/>
          </a:prstGeom>
          <a:solidFill>
            <a:srgbClr val="DC4A26">
              <a:alpha val="20000"/>
            </a:srgbClr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2148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4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13248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 Density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13248" y="27249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conditions — 300+ vehicles/hour. Tests whether the system avoids false positives from noise.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3566160"/>
            <a:ext cx="41605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566160"/>
            <a:ext cx="594360" cy="1353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0233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9264" y="3611880"/>
            <a:ext cx="1005840" cy="256032"/>
          </a:xfrm>
          <a:prstGeom prst="rect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" y="3611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9264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Intersections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9264" y="41879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travels through 5 consecutive intersections. Tests green corridor propagation across the network.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0016" y="3566160"/>
            <a:ext cx="41605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0016" y="3566160"/>
            <a:ext cx="594360" cy="1353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40233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13248" y="3611880"/>
            <a:ext cx="1005840" cy="25603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13248" y="3611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13248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Ambulance (False +)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13248" y="41879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ambulance present, but a loud vehicle and flashing car trigger sensors. Tests specificity and false positive rate.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Sensor Fusion is Simulated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04088"/>
            <a:ext cx="438912" cy="43891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04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2628" y="1143000"/>
            <a:ext cx="32004" cy="365760"/>
          </a:xfrm>
          <a:prstGeom prst="rect">
            <a:avLst/>
          </a:prstGeom>
          <a:solidFill>
            <a:srgbClr val="1A73E8">
              <a:alpha val="4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67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simulation timestep (100ms)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941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all vehicle states from SUMO via TraCI. It calculates which sensors would be 'triggered' based on proximity and line-of-sight rules.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57276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2628" y="2011680"/>
            <a:ext cx="32004" cy="36576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36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generated with noise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8105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emulator adds realistic noise — GPS gets Gaussian position error, audio gets ambient noise from nearby vehicles, camera gets confidence jitter.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441448"/>
            <a:ext cx="438912" cy="43891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441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2628" y="2880360"/>
            <a:ext cx="32004" cy="365760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404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sent to the actual fusion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6791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multi-modal fusion code (not a mock) receives these three streams and runs Bayesian weighted confidence scoring exactly as in production.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3310128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310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2628" y="3749040"/>
            <a:ext cx="32004" cy="365760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73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evaluated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5478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fusion engine outputs p &gt; 0.82, the AI decision layer is triggered. The system logs the timestamp, the score, and which sensors contributed.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417880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178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4142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command issued via TraCI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4165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ambulance is detected, the optimizer calculates the green corridor and sends phase-change commands to SUMO's traffic signals in real time.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594360"/>
            <a:ext cx="2788920" cy="4343400"/>
          </a:xfrm>
          <a:prstGeom prst="rect">
            <a:avLst/>
          </a:prstGeom>
          <a:solidFill>
            <a:srgbClr val="112240"/>
          </a:solidFill>
          <a:ln w="10160">
            <a:solidFill>
              <a:srgbClr val="1A73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594360"/>
            <a:ext cx="278892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685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Logged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timestep produces a structured log entry: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36208" y="1325880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1325880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51776" y="132588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time (ms)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36208" y="1673352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167335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amb_present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51776" y="167335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(T/F)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36208" y="2020824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202082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audio_conf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351776" y="2020824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model score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36208" y="2368296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36829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visual_conf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51776" y="236829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score + bbox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36208" y="2715768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27157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gps_fix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351776" y="271576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noise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36208" y="3063240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3063240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fusion_score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351776" y="30632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in [0,1]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36208" y="3410712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341071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351776" y="341071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+ latency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36208" y="3758184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375818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signal_cmd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351776" y="3758184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sent to SUMO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36208" y="4105656"/>
            <a:ext cx="1078992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410565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amb_wait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51776" y="41056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saved vs baseline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Corridor Simulation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737360"/>
            <a:ext cx="8595360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731520"/>
            <a:ext cx="54864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438912"/>
            <a:ext cx="45720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475488"/>
            <a:ext cx="128016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75488"/>
            <a:ext cx="128016" cy="20116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7160"/>
            <a:ext cx="658368" cy="256032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371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59536" y="2011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731520"/>
            <a:ext cx="54864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438912"/>
            <a:ext cx="45720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1176" y="475488"/>
            <a:ext cx="128016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6624" y="475488"/>
            <a:ext cx="128016" cy="20116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137160"/>
            <a:ext cx="658368" cy="256032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371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05456" y="2011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43400" y="731520"/>
            <a:ext cx="54864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51376" y="438912"/>
            <a:ext cx="45720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97096" y="475488"/>
            <a:ext cx="128016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52544" y="475488"/>
            <a:ext cx="128016" cy="20116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9080" y="137160"/>
            <a:ext cx="658368" cy="256032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1371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51376" y="2011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731520"/>
            <a:ext cx="54864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97296" y="438912"/>
            <a:ext cx="45720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43016" y="475488"/>
            <a:ext cx="128016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98464" y="475488"/>
            <a:ext cx="128016" cy="20116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137160"/>
            <a:ext cx="658368" cy="256032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371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97296" y="2011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35240" y="731520"/>
            <a:ext cx="54864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43216" y="438912"/>
            <a:ext cx="45720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88936" y="475488"/>
            <a:ext cx="128016" cy="20116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384" y="475488"/>
            <a:ext cx="128016" cy="201168"/>
          </a:xfrm>
          <a:prstGeom prst="ellipse">
            <a:avLst/>
          </a:prstGeom>
          <a:solidFill>
            <a:srgbClr val="DC4A26"/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0920" y="137160"/>
            <a:ext cx="658368" cy="256032"/>
          </a:xfrm>
          <a:prstGeom prst="rect">
            <a:avLst/>
          </a:prstGeom>
          <a:solidFill>
            <a:srgbClr val="DC4A26">
              <a:alpha val="25000"/>
            </a:srgbClr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1371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4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443216" y="2011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" y="1783080"/>
            <a:ext cx="411480" cy="109728"/>
          </a:xfrm>
          <a:prstGeom prst="rect">
            <a:avLst/>
          </a:prstGeom>
          <a:solidFill>
            <a:srgbClr val="DC4A26"/>
          </a:solidFill>
          <a:ln w="12700">
            <a:solidFill>
              <a:srgbClr val="DC4A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17190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🚑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4320" y="2286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4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(approaching)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56032" y="292608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" y="2926080"/>
            <a:ext cx="2816352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" y="2926080"/>
            <a:ext cx="64008" cy="1783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Trigger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0624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OmniSense detects the ambulance, it immediately identifies the vehicle's position and planned route via GPS/V2X. All relevant intersections are extracted.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0" y="292608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0" y="2926080"/>
            <a:ext cx="2816352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2926080"/>
            <a:ext cx="64008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64992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Pre-emptive Greening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64992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the nearest intersection, the optimizer changes signals to green ONE STEP AHEAD of the ambulance, so each intersection is clear before arrival.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44768" y="2926080"/>
            <a:ext cx="281635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44768" y="2926080"/>
            <a:ext cx="281635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44768" y="2926080"/>
            <a:ext cx="64008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 Restored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9360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ambulance clears each intersection, the signal reverts to its normal phase cycle automatically — no manual intervention required.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56032" y="4754880"/>
            <a:ext cx="8631936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simulation, the green corridor reduces ambulance travel time through 5 intersections by an average of 38 seconds vs. standard signal operation.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 — Simulation Output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621792"/>
            <a:ext cx="20116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21792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31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417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7099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correctly identified across all scenarios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32304" y="621792"/>
            <a:ext cx="20116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621792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731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32304" y="1417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23744" y="17099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Non-ambulance events incorrectly triggering the system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08576" y="621792"/>
            <a:ext cx="20116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621792"/>
            <a:ext cx="201168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731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143ms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08576" y="1417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Detection Latency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0016" y="17099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ambulance entering sensor zone to system decision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84848" y="621792"/>
            <a:ext cx="201168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4848" y="621792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731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38s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784848" y="1417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per Journey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76288" y="17099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reduction in ambulance travel time through 5 signals</a:t>
            </a:r>
            <a:endParaRPr lang="en-US" sz="8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56032" y="2468880"/>
          <a:ext cx="8631936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Simulation — How We Know It Reflects Reality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621792"/>
            <a:ext cx="5120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621792"/>
            <a:ext cx="64008" cy="9144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132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 calibration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parameters (GPS σ, audio SNR, visual confidence jitter) are taken from datasheets and real-world recordings of ambulance sirens and CCTV footage, then applied to the emulator.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645920"/>
            <a:ext cx="5120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64592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matching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traffic demand is configured using publicly available urban traffic count data (vehicles/hour) for the target city, ensuring simulated congestion levels are realistic.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670048"/>
            <a:ext cx="5120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670048"/>
            <a:ext cx="64008" cy="9144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614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timing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03580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SUMO signal phase timings are configured to match actual intersection controller data from the deployment site, so the optimizer's outputs can be directly compared.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3694176"/>
            <a:ext cx="5120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694176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856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field test comparison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05993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limited pilot deployment, real sensor readings and system decisions were recorded and compared against simulation outputs for the same scenarios. Latency and detection rate matched within 5%.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621792"/>
            <a:ext cx="3310128" cy="4096512"/>
          </a:xfrm>
          <a:prstGeom prst="rect">
            <a:avLst/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694944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vs Pilot Field Test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14416" y="1042416"/>
            <a:ext cx="3236976" cy="438912"/>
          </a:xfrm>
          <a:prstGeom prst="rect">
            <a:avLst/>
          </a:prstGeom>
          <a:solidFill>
            <a:srgbClr val="1E3A5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11338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49440" y="1133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28432" y="1133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14416" y="1517904"/>
            <a:ext cx="3236976" cy="438912"/>
          </a:xfrm>
          <a:prstGeom prst="rect">
            <a:avLst/>
          </a:prstGeom>
          <a:solidFill>
            <a:srgbClr val="1A2535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16093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9440" y="16093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28432" y="16093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14416" y="1993392"/>
            <a:ext cx="3236976" cy="43891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084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20848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28432" y="20848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14416" y="2468880"/>
            <a:ext cx="3236976" cy="438912"/>
          </a:xfrm>
          <a:prstGeom prst="rect">
            <a:avLst/>
          </a:prstGeom>
          <a:solidFill>
            <a:srgbClr val="1A2535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2560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Pos. Rate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28432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14416" y="2944368"/>
            <a:ext cx="3236976" cy="43891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Response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0" y="3035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28432" y="3035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182ms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14416" y="3419856"/>
            <a:ext cx="3236976" cy="438912"/>
          </a:xfrm>
          <a:prstGeom prst="rect">
            <a:avLst/>
          </a:prstGeom>
          <a:solidFill>
            <a:srgbClr val="1A2535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87568" y="35112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/ run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49440" y="35112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28432" y="35112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14416" y="3877056"/>
            <a:ext cx="3236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deviation across all metrics — simulation is production-representative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&amp; Future Simulation Plans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of Current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160520" cy="896112"/>
          </a:xfrm>
          <a:prstGeom prst="rect">
            <a:avLst/>
          </a:prstGeom>
          <a:solidFill>
            <a:srgbClr val="11224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05840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97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video frames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3716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sensor is emulated using position data, not actual rendered video. Real occlusion (parked vans, corners) is approximated probabilistically, not geometrically.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0016" y="1005840"/>
            <a:ext cx="4160520" cy="896112"/>
          </a:xfrm>
          <a:prstGeom prst="rect">
            <a:avLst/>
          </a:prstGeom>
          <a:solidFill>
            <a:srgbClr val="11224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1005840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97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acoustic 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4608" y="13716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emulation uses distance + vehicle type rather than a full acoustic propagation model. Real reflections off buildings and traffic tunnels are not modelled.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11680"/>
            <a:ext cx="4160520" cy="896112"/>
          </a:xfrm>
          <a:prstGeom prst="rect">
            <a:avLst/>
          </a:prstGeom>
          <a:solidFill>
            <a:srgbClr val="11224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011680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vehicle type tested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" y="23774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standard ambulance geometry is tested. Motorcycle paramedics, fire engines with sirens, and unmarked emergency vehicles are not yet in the scenario library.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0016" y="2011680"/>
            <a:ext cx="4160520" cy="896112"/>
          </a:xfrm>
          <a:prstGeom prst="rect">
            <a:avLst/>
          </a:prstGeom>
          <a:solidFill>
            <a:srgbClr val="11224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0016" y="2011680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road network 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23774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operates in 2D. Multi-storey intersections, underpasses, and tunnels cannot be accurately represented in the current simulation setup.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035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" y="3401568"/>
            <a:ext cx="2011680" cy="1508760"/>
          </a:xfrm>
          <a:prstGeom prst="rect">
            <a:avLst/>
          </a:prstGeom>
          <a:solidFill>
            <a:srgbClr val="11224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401568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rendering integration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85876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CARLA 3D simulator for photorealistic video frame generation, allowing real YOLOv8 inference on simulated footage.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32304" y="3401568"/>
            <a:ext cx="2011680" cy="1508760"/>
          </a:xfrm>
          <a:prstGeom prst="rect">
            <a:avLst/>
          </a:prstGeom>
          <a:solidFill>
            <a:srgbClr val="112240"/>
          </a:solidFill>
          <a:ln w="10160">
            <a:solidFill>
              <a:srgbClr val="1A7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32304" y="3401568"/>
            <a:ext cx="201168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propagation model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42032" y="385876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FDTD (Finite Difference Time Domain) acoustic simulation to model siren propagation around real building geometries.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08576" y="3401568"/>
            <a:ext cx="2011680" cy="1508760"/>
          </a:xfrm>
          <a:prstGeom prst="rect">
            <a:avLst/>
          </a:prstGeom>
          <a:solidFill>
            <a:srgbClr val="112240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08576" y="3401568"/>
            <a:ext cx="20116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testing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18304" y="385876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actual IoT signal controllers and acoustic sensors to the simulation via their physical interfaces for end-to-end hardware validation.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84848" y="3401568"/>
            <a:ext cx="2011680" cy="1508760"/>
          </a:xfrm>
          <a:prstGeom prst="rect">
            <a:avLst/>
          </a:prstGeom>
          <a:solidFill>
            <a:srgbClr val="112240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84848" y="3401568"/>
            <a:ext cx="20116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City-scale scenario library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94576" y="385876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12 to 100+ scenarios using scripted adversarial cases: multiple simultaneous ambulances, system failures, and sensor cyberattacks.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OmniSense simulation framework achieves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200400" cy="27432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08176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1389888"/>
            <a:ext cx="402336" cy="402336"/>
          </a:xfrm>
          <a:prstGeom prst="ellipse">
            <a:avLst/>
          </a:prstGeom>
          <a:solidFill>
            <a:srgbClr val="1A2535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817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40817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testing of ambulance detection, sensor fusion, AI decision, and signal optimization — before any hardware is deployed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66544"/>
            <a:ext cx="347472" cy="34747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84048" y="2048256"/>
            <a:ext cx="402336" cy="402336"/>
          </a:xfrm>
          <a:prstGeom prst="ellipse">
            <a:avLst/>
          </a:prstGeom>
          <a:solidFill>
            <a:srgbClr val="1A2535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06654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20665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test scenarios covering normal, degraded, stressed, and adversarial conditions, each run 50 times for statistical validity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24912"/>
            <a:ext cx="347472" cy="34747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84048" y="2706624"/>
            <a:ext cx="402336" cy="402336"/>
          </a:xfrm>
          <a:prstGeom prst="ellipse">
            <a:avLst/>
          </a:prstGeom>
          <a:solidFill>
            <a:srgbClr val="1A2535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724912"/>
            <a:ext cx="347472" cy="34747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60120" y="27249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results: 94.2% detection rate, 143ms average latency, 1.8% false positive rate, 38 seconds saved per journey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383280"/>
            <a:ext cx="347472" cy="34747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384048" y="3364992"/>
            <a:ext cx="402336" cy="402336"/>
          </a:xfrm>
          <a:prstGeom prst="ellipse">
            <a:avLst/>
          </a:prstGeom>
          <a:solidFill>
            <a:srgbClr val="1A2535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383280"/>
            <a:ext cx="347472" cy="34747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60120" y="3383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field validation confirmed simulation metrics match real-world behaviour within 5% — making simulation a reliable predictor</a:t>
            </a:r>
            <a:endParaRPr lang="en-US" sz="10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4041648"/>
            <a:ext cx="347472" cy="347472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84048" y="4023360"/>
            <a:ext cx="402336" cy="402336"/>
          </a:xfrm>
          <a:prstGeom prst="ellipse">
            <a:avLst/>
          </a:prstGeom>
          <a:solidFill>
            <a:srgbClr val="1A2535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4041648"/>
            <a:ext cx="347472" cy="34747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60120" y="40416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corridor propagation through 5 intersections validated — sequential preemption logic confirmed to clear the route ahead of the ambulance</a:t>
            </a:r>
            <a:endParaRPr lang="en-US" sz="1050" dirty="0"/>
          </a:p>
        </p:txBody>
      </p:sp>
      <p:sp>
        <p:nvSpPr>
          <p:cNvPr id="2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8" name="Text 16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OmniSense Emergency Priority  ·  Simulation Framework Document  ·  v1.0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OmniSense Simulation</dc:title>
  <dc:subject>PptxGenJS Presentation</dc:subject>
  <dc:creator>OmniSense Engineering</dc:creator>
  <cp:lastModifiedBy>OmniSense Engineering</cp:lastModifiedBy>
  <cp:revision>1</cp:revision>
  <dcterms:created xsi:type="dcterms:W3CDTF">2026-04-07T10:14:50Z</dcterms:created>
  <dcterms:modified xsi:type="dcterms:W3CDTF">2026-04-07T10:14:50Z</dcterms:modified>
</cp:coreProperties>
</file>