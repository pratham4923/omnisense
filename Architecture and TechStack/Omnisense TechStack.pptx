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73152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1A2E44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OMNI</a:t>
            </a:r>
            <a:endParaRPr lang="en-US" sz="13000" dirty="0"/>
          </a:p>
        </p:txBody>
      </p:sp>
      <p:sp>
        <p:nvSpPr>
          <p:cNvPr id="16" name="Shape 14"/>
          <p:cNvSpPr/>
          <p:nvPr/>
        </p:nvSpPr>
        <p:spPr>
          <a:xfrm>
            <a:off x="365760" y="548640"/>
            <a:ext cx="2011680" cy="320040"/>
          </a:xfrm>
          <a:prstGeom prst="rect">
            <a:avLst/>
          </a:prstGeom>
          <a:solidFill>
            <a:srgbClr val="00E5FF">
              <a:alpha val="1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5303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 SYSTEMS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1051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OMNISENSE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365760" y="2331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Emergency Vehicle Rerouting System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5760" y="28346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AI-Powered Real-Time Traffic Intelligence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2233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4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  ·  ALGORITHMS  ·  PYTHON LIBRARIES  ·  SYSTEM ARCHITECTURE</a:t>
            </a:r>
            <a:endParaRPr lang="en-US" sz="9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64592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520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Omnisense?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Omnisense is a real-time, AI-powered emergency vehicle detection and traffic rerouting system. It fuses three data modalities — video, audio, and sensor streams — to automatically detect approaching emergency vehicles and intelligently reroute traffic signals.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651760"/>
            <a:ext cx="1737360" cy="123444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651760"/>
            <a:ext cx="173736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743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2651760"/>
            <a:ext cx="1737360" cy="123444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2651760"/>
            <a:ext cx="1737360" cy="73152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2743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&lt;50ms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33172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2651760"/>
            <a:ext cx="1737360" cy="123444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651760"/>
            <a:ext cx="1737360" cy="73152"/>
          </a:xfrm>
          <a:prstGeom prst="rect">
            <a:avLst/>
          </a:prstGeom>
          <a:solidFill>
            <a:srgbClr val="39FF7A"/>
          </a:solidFill>
          <a:ln w="12700">
            <a:solidFill>
              <a:srgbClr val="39FF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27432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9FF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29768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Open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822960"/>
            <a:ext cx="2651760" cy="475488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82296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Video Input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1298448"/>
            <a:ext cx="822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472184"/>
            <a:ext cx="2651760" cy="475488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47218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Audio Input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1947672"/>
            <a:ext cx="822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121408"/>
            <a:ext cx="2651760" cy="475488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12140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Sensor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596896"/>
            <a:ext cx="822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2770632"/>
            <a:ext cx="2651760" cy="475488"/>
          </a:xfrm>
          <a:prstGeom prst="rect">
            <a:avLst/>
          </a:prstGeom>
          <a:solidFill>
            <a:srgbClr val="0F1C2E"/>
          </a:solidFill>
          <a:ln w="25400">
            <a:solidFill>
              <a:srgbClr val="FFB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77063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 Fusion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0" y="3246120"/>
            <a:ext cx="822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</a:rPr>
              <a:t>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419856"/>
            <a:ext cx="2651760" cy="475488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41985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Rerouting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0" y="3895344"/>
            <a:ext cx="822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069080"/>
            <a:ext cx="2651760" cy="475488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40690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Signal Control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4754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4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 PIPELINE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520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ALGORITHM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YOLOv8 + Multimodal Fusion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3533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algorithm combining real-time video detection, audio classification &amp; sensor fusion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828800"/>
            <a:ext cx="2743200" cy="2926080"/>
          </a:xfrm>
          <a:prstGeom prst="rect">
            <a:avLst/>
          </a:prstGeom>
          <a:solidFill>
            <a:srgbClr val="0F1C2E"/>
          </a:solidFill>
          <a:ln w="19050">
            <a:solidFill>
              <a:srgbClr val="FF4B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828800"/>
            <a:ext cx="2743200" cy="5486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9659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YOLOv8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4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Detection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65760" y="25146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detection on traffic camera frames. Detects &amp; classifies emergency vehicles at 30+ FPS with bounding boxes.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4160520"/>
            <a:ext cx="2560320" cy="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4160520"/>
            <a:ext cx="2560320" cy="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" y="4160520"/>
            <a:ext cx="2560320" cy="0"/>
          </a:xfrm>
          <a:prstGeom prst="rect">
            <a:avLst/>
          </a:prstGeom>
          <a:solidFill>
            <a:srgbClr val="0F1C2E"/>
          </a:solidFill>
          <a:ln w="12700">
            <a:solidFill>
              <a:srgbClr val="0F1C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1330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  ·  Transfer Learning  ·  DeepSORT Tracking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154680" y="1828800"/>
            <a:ext cx="2743200" cy="2926080"/>
          </a:xfrm>
          <a:prstGeom prst="rect">
            <a:avLst/>
          </a:prstGeom>
          <a:solidFill>
            <a:srgbClr val="0F1C2E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154680" y="1828800"/>
            <a:ext cx="27432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96596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9476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YAMNet CNN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794760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Classification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291840" y="25146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500+ sound events. Detects siren &amp; emergency audio with MFCC + Mel-spectrogram feature extraction.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080760" y="1828800"/>
            <a:ext cx="2743200" cy="2926080"/>
          </a:xfrm>
          <a:prstGeom prst="rect">
            <a:avLst/>
          </a:prstGeom>
          <a:solidFill>
            <a:srgbClr val="0F1C2E"/>
          </a:solidFill>
          <a:ln w="19050">
            <a:solidFill>
              <a:srgbClr val="FFB70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80760" y="1828800"/>
            <a:ext cx="2743200" cy="54864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6596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2084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Fusion Layer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720840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Engine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17920" y="25146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model combines video + audio confidence scores with GPS/sensor data to output a single rerouting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520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4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MODALITY 01  ·  VIDEO DATASET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74980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Processing Libraries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417320"/>
            <a:ext cx="5669280" cy="685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417320"/>
            <a:ext cx="54864" cy="6858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453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ultralytics (YOLOv8)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7465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detection model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40480" y="1618488"/>
            <a:ext cx="2011680" cy="274320"/>
          </a:xfrm>
          <a:prstGeom prst="rect">
            <a:avLst/>
          </a:prstGeom>
          <a:solidFill>
            <a:srgbClr val="061222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0" y="1618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ultralytics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2258568"/>
            <a:ext cx="5669280" cy="685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2258568"/>
            <a:ext cx="54864" cy="6858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295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opencv-python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2587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I/O &amp; preprocessing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40480" y="2459736"/>
            <a:ext cx="2011680" cy="274320"/>
          </a:xfrm>
          <a:prstGeom prst="rect">
            <a:avLst/>
          </a:prstGeom>
          <a:solidFill>
            <a:srgbClr val="061222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0" y="2459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opencv-python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65760" y="3099816"/>
            <a:ext cx="5669280" cy="685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3099816"/>
            <a:ext cx="54864" cy="6858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torch + torchvision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840480" y="3300984"/>
            <a:ext cx="2011680" cy="274320"/>
          </a:xfrm>
          <a:prstGeom prst="rect">
            <a:avLst/>
          </a:prstGeom>
          <a:solidFill>
            <a:srgbClr val="061222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40480" y="33009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torch torchvision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" y="3941064"/>
            <a:ext cx="5669280" cy="685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" y="3941064"/>
            <a:ext cx="54864" cy="6858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DeepSORT / ByteTrack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2920" y="4270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 tracking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840480" y="4142232"/>
            <a:ext cx="2011680" cy="274320"/>
          </a:xfrm>
          <a:prstGeom prst="rect">
            <a:avLst/>
          </a:prstGeom>
          <a:solidFill>
            <a:srgbClr val="061222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40480" y="4142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deep-sort-realtime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309360" y="749808"/>
            <a:ext cx="2560320" cy="4114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09360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4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40080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camera feed analysis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400800" y="18105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vehicle bounding boxes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400800" y="234086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classification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400800" y="28712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Multi-lane tracking (DeepSORT)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00800" y="34015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on custom dataset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40080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30 FPS inference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Dataset: Emergency Vehicle Dataset (Roboflow) — Free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520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MODALITY 02  ·  AUDIO DATASET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74980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Audio Processing Libraries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365760" y="1417320"/>
            <a:ext cx="5669280" cy="685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417320"/>
            <a:ext cx="54864" cy="685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453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librosa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7465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&amp; Mel-spectrogram extraction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40480" y="1618488"/>
            <a:ext cx="2011680" cy="274320"/>
          </a:xfrm>
          <a:prstGeom prst="rect">
            <a:avLst/>
          </a:prstGeom>
          <a:solidFill>
            <a:srgbClr val="061222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0" y="1618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librosa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65760" y="2258568"/>
            <a:ext cx="5669280" cy="685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2258568"/>
            <a:ext cx="54864" cy="685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295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tensorflow-hub (YAMNet)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2587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audio event classifier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40480" y="2459736"/>
            <a:ext cx="2011680" cy="274320"/>
          </a:xfrm>
          <a:prstGeom prst="rect">
            <a:avLst/>
          </a:prstGeom>
          <a:solidFill>
            <a:srgbClr val="061222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0" y="2459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tensorflow-hub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65760" y="3099816"/>
            <a:ext cx="5669280" cy="685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3099816"/>
            <a:ext cx="54864" cy="685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sounddevice / PyAudio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mic stream capture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840480" y="3300984"/>
            <a:ext cx="2011680" cy="274320"/>
          </a:xfrm>
          <a:prstGeom prst="rect">
            <a:avLst/>
          </a:prstGeom>
          <a:solidFill>
            <a:srgbClr val="061222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40480" y="33009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sounddevice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" y="3941064"/>
            <a:ext cx="5669280" cy="685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" y="3941064"/>
            <a:ext cx="54864" cy="6858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scipy.signal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2920" y="4270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Bandpass filter for siren freq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840480" y="4142232"/>
            <a:ext cx="2011680" cy="274320"/>
          </a:xfrm>
          <a:prstGeom prst="rect">
            <a:avLst/>
          </a:prstGeom>
          <a:solidFill>
            <a:srgbClr val="061222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40480" y="4142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scipy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309360" y="749808"/>
            <a:ext cx="2560320" cy="4114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09360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YAMNet FEATURES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40080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521 sound classes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400800" y="18105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sirens &amp; horns natively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400800" y="234086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per-frame predictions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400800" y="28712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features for custom CNN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00800" y="34015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16kHz stream input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40080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via TensorFlow Hub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Dataset: UrbanSound8K (Siren Class) — Free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520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9FF7A"/>
          </a:solidFill>
          <a:ln w="12700">
            <a:solidFill>
              <a:srgbClr val="39F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MODALITY 03  ·  SENSOR &amp; ROUTING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Geospatial &amp; Routing Libraries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669280" cy="685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17320"/>
            <a:ext cx="54864" cy="685800"/>
          </a:xfrm>
          <a:prstGeom prst="rect">
            <a:avLst/>
          </a:prstGeom>
          <a:solidFill>
            <a:srgbClr val="39FF7A"/>
          </a:solidFill>
          <a:ln w="12700">
            <a:solidFill>
              <a:srgbClr val="39F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53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OSMnx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465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road network graphs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1618488"/>
            <a:ext cx="2011680" cy="274320"/>
          </a:xfrm>
          <a:prstGeom prst="rect">
            <a:avLst/>
          </a:prstGeom>
          <a:solidFill>
            <a:srgbClr val="061222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618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osmnx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258568"/>
            <a:ext cx="5669280" cy="685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258568"/>
            <a:ext cx="54864" cy="685800"/>
          </a:xfrm>
          <a:prstGeom prst="rect">
            <a:avLst/>
          </a:prstGeom>
          <a:solidFill>
            <a:srgbClr val="39FF7A"/>
          </a:solidFill>
          <a:ln w="12700">
            <a:solidFill>
              <a:srgbClr val="39FF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95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587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/ A* path algorithms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2459736"/>
            <a:ext cx="2011680" cy="274320"/>
          </a:xfrm>
          <a:prstGeom prst="rect">
            <a:avLst/>
          </a:prstGeom>
          <a:solidFill>
            <a:srgbClr val="061222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459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networkx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099816"/>
            <a:ext cx="5669280" cy="685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099816"/>
            <a:ext cx="54864" cy="685800"/>
          </a:xfrm>
          <a:prstGeom prst="rect">
            <a:avLst/>
          </a:prstGeom>
          <a:solidFill>
            <a:srgbClr val="39FF7A"/>
          </a:solidFill>
          <a:ln w="12700">
            <a:solidFill>
              <a:srgbClr val="39FF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shapely + geopy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zone proximity detection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0" y="3300984"/>
            <a:ext cx="2011680" cy="274320"/>
          </a:xfrm>
          <a:prstGeom prst="rect">
            <a:avLst/>
          </a:prstGeom>
          <a:solidFill>
            <a:srgbClr val="061222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33009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shapely geopy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941064"/>
            <a:ext cx="5669280" cy="685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941064"/>
            <a:ext cx="54864" cy="685800"/>
          </a:xfrm>
          <a:prstGeom prst="rect">
            <a:avLst/>
          </a:prstGeom>
          <a:solidFill>
            <a:srgbClr val="39FF7A"/>
          </a:solidFill>
          <a:ln w="12700">
            <a:solidFill>
              <a:srgbClr val="39FF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 + numpy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4270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stream processing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4142232"/>
            <a:ext cx="2011680" cy="274320"/>
          </a:xfrm>
          <a:prstGeom prst="rect">
            <a:avLst/>
          </a:prstGeom>
          <a:solidFill>
            <a:srgbClr val="061222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4142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9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 numpy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749808"/>
            <a:ext cx="2560320" cy="411480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822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9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 ALGORITHM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for shortest path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18105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for heuristic routing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0" y="234086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data (free)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0" y="28712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graph analysis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0" y="34015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simulation testing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path updates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Dataset: OpenStreetMap road network data — Free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520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 PYTHON LIBRARY 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Free &amp; Open-Source — pip installable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8686800" cy="292608"/>
          </a:xfrm>
          <a:prstGeom prst="rect">
            <a:avLst/>
          </a:prstGeom>
          <a:solidFill>
            <a:srgbClr val="112233"/>
          </a:solidFill>
          <a:ln w="6350">
            <a:solidFill>
              <a:srgbClr val="1A2E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34640" y="111556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PURPOSE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11155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435608"/>
            <a:ext cx="8686800" cy="265176"/>
          </a:xfrm>
          <a:prstGeom prst="rect">
            <a:avLst/>
          </a:prstGeom>
          <a:solidFill>
            <a:srgbClr val="0F1C2E"/>
          </a:solidFill>
          <a:ln w="6350">
            <a:solidFill>
              <a:srgbClr val="1A2E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435608"/>
            <a:ext cx="45720" cy="265176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43560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ultralytics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34640" y="1435608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emergency vehicle detection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1435608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706270"/>
            <a:ext cx="8686800" cy="265176"/>
          </a:xfrm>
          <a:prstGeom prst="rect">
            <a:avLst/>
          </a:prstGeom>
          <a:solidFill>
            <a:srgbClr val="0D1520"/>
          </a:solidFill>
          <a:ln w="6350">
            <a:solidFill>
              <a:srgbClr val="1A2E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706270"/>
            <a:ext cx="45720" cy="265176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706270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opencv-python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834640" y="1706270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capture, frame processing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1706270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1976933"/>
            <a:ext cx="8686800" cy="265176"/>
          </a:xfrm>
          <a:prstGeom prst="rect">
            <a:avLst/>
          </a:prstGeom>
          <a:solidFill>
            <a:srgbClr val="0F1C2E"/>
          </a:solidFill>
          <a:ln w="6350">
            <a:solidFill>
              <a:srgbClr val="1A2E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1976933"/>
            <a:ext cx="45720" cy="265176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976933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torch/torchvision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34640" y="1976933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transfer learning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1976933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Video+Fusion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247595"/>
            <a:ext cx="8686800" cy="265176"/>
          </a:xfrm>
          <a:prstGeom prst="rect">
            <a:avLst/>
          </a:prstGeom>
          <a:solidFill>
            <a:srgbClr val="0D1520"/>
          </a:solidFill>
          <a:ln w="6350">
            <a:solidFill>
              <a:srgbClr val="1A2E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247595"/>
            <a:ext cx="45720" cy="2651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247595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tensorflow-hub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834640" y="2247595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 siren audio classifier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2247595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2518258"/>
            <a:ext cx="8686800" cy="265176"/>
          </a:xfrm>
          <a:prstGeom prst="rect">
            <a:avLst/>
          </a:prstGeom>
          <a:solidFill>
            <a:srgbClr val="0F1C2E"/>
          </a:solidFill>
          <a:ln w="6350">
            <a:solidFill>
              <a:srgbClr val="1A2E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2518258"/>
            <a:ext cx="45720" cy="2651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518258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834640" y="2518258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MFCC, mel-spectrogram extraction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2518258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2788920"/>
            <a:ext cx="8686800" cy="265176"/>
          </a:xfrm>
          <a:prstGeom prst="rect">
            <a:avLst/>
          </a:prstGeom>
          <a:solidFill>
            <a:srgbClr val="0D1520"/>
          </a:solidFill>
          <a:ln w="6350">
            <a:solidFill>
              <a:srgbClr val="1A2E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2788920"/>
            <a:ext cx="45720" cy="2651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2788920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sounddevice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34640" y="2788920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microphone audio capture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2788920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3059582"/>
            <a:ext cx="8686800" cy="265176"/>
          </a:xfrm>
          <a:prstGeom prst="rect">
            <a:avLst/>
          </a:prstGeom>
          <a:solidFill>
            <a:srgbClr val="0F1C2E"/>
          </a:solidFill>
          <a:ln w="6350">
            <a:solidFill>
              <a:srgbClr val="1A2E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3059582"/>
            <a:ext cx="45720" cy="2651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059582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scipy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834640" y="3059582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filtering, signal processing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0" y="3059582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28600" y="3330245"/>
            <a:ext cx="8686800" cy="265176"/>
          </a:xfrm>
          <a:prstGeom prst="rect">
            <a:avLst/>
          </a:prstGeom>
          <a:solidFill>
            <a:srgbClr val="0D1520"/>
          </a:solidFill>
          <a:ln w="6350">
            <a:solidFill>
              <a:srgbClr val="1A2E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3330245"/>
            <a:ext cx="45720" cy="265176"/>
          </a:xfrm>
          <a:prstGeom prst="rect">
            <a:avLst/>
          </a:prstGeom>
          <a:solidFill>
            <a:srgbClr val="39FF7A"/>
          </a:solidFill>
          <a:ln w="12700">
            <a:solidFill>
              <a:srgbClr val="39FF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330245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osmnx + networkx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834640" y="3330245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graph &amp; pathfinding algorithms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0" y="3330245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3600907"/>
            <a:ext cx="8686800" cy="265176"/>
          </a:xfrm>
          <a:prstGeom prst="rect">
            <a:avLst/>
          </a:prstGeom>
          <a:solidFill>
            <a:srgbClr val="0F1C2E"/>
          </a:solidFill>
          <a:ln w="6350">
            <a:solidFill>
              <a:srgbClr val="1A2E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8600" y="3600907"/>
            <a:ext cx="45720" cy="265176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" y="3600907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+ numpy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834640" y="3600907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streams, feature engineering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315200" y="3600907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28600" y="3871570"/>
            <a:ext cx="8686800" cy="265176"/>
          </a:xfrm>
          <a:prstGeom prst="rect">
            <a:avLst/>
          </a:prstGeom>
          <a:solidFill>
            <a:srgbClr val="0D1520"/>
          </a:solidFill>
          <a:ln w="6350">
            <a:solidFill>
              <a:srgbClr val="1A2E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8600" y="3871570"/>
            <a:ext cx="45720" cy="265176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3871570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834640" y="3871570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classifiers, model evaluation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15200" y="3871570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28600" y="4142232"/>
            <a:ext cx="8686800" cy="265176"/>
          </a:xfrm>
          <a:prstGeom prst="rect">
            <a:avLst/>
          </a:prstGeom>
          <a:solidFill>
            <a:srgbClr val="0F1C2E"/>
          </a:solidFill>
          <a:ln w="6350">
            <a:solidFill>
              <a:srgbClr val="1A2E4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" y="4142232"/>
            <a:ext cx="45720" cy="265176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4142232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uvicorn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834640" y="4142232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for rerouting broadcast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315200" y="4142232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28600" y="4412894"/>
            <a:ext cx="8686800" cy="265176"/>
          </a:xfrm>
          <a:prstGeom prst="rect">
            <a:avLst/>
          </a:prstGeom>
          <a:solidFill>
            <a:srgbClr val="0D1520"/>
          </a:solidFill>
          <a:ln w="6350">
            <a:solidFill>
              <a:srgbClr val="1A2E4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8600" y="4412894"/>
            <a:ext cx="45720" cy="265176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" y="4412894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paho-mqtt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2834640" y="4412894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signal controller messaging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315200" y="441289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28600" y="4683557"/>
            <a:ext cx="8686800" cy="265176"/>
          </a:xfrm>
          <a:prstGeom prst="rect">
            <a:avLst/>
          </a:prstGeom>
          <a:solidFill>
            <a:srgbClr val="0F1C2E"/>
          </a:solidFill>
          <a:ln w="6350">
            <a:solidFill>
              <a:srgbClr val="1A2E4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8600" y="4683557"/>
            <a:ext cx="45720" cy="265176"/>
          </a:xfrm>
          <a:prstGeom prst="rect">
            <a:avLst/>
          </a:prstGeom>
          <a:solidFill>
            <a:srgbClr val="39FF7A"/>
          </a:solidFill>
          <a:ln w="12700">
            <a:solidFill>
              <a:srgbClr val="39FF7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7472" y="4683557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2834640" y="4683557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 dashboard UI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315200" y="4683557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28600" y="482803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Python 3.9+  ·  GPU support: pip install torch --index-url https://download.pytorch.org/whl/cu118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520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INTEGRATION &amp; DEPLOYMENT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Integration, API &amp; Dashboard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023360" cy="1508760"/>
          </a:xfrm>
          <a:prstGeom prst="rect">
            <a:avLst/>
          </a:prstGeom>
          <a:solidFill>
            <a:srgbClr val="0F1C2E"/>
          </a:solidFill>
          <a:ln w="19050">
            <a:solidFill>
              <a:srgbClr val="00E5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087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17739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Backend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20299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rerouting decisions as real-time REST endpoints. Traffic management systems query the API.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023360" cy="1508760"/>
          </a:xfrm>
          <a:prstGeom prst="rect">
            <a:avLst/>
          </a:prstGeom>
          <a:solidFill>
            <a:srgbClr val="0F1C2E"/>
          </a:solidFill>
          <a:ln w="19050">
            <a:solidFill>
              <a:srgbClr val="39FF7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087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MQTT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285232" y="17739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39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IoT Protocol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800600" y="20299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paho-mqtt publishes signal commands to smart traffic lights over lightweight IoT messaging.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74320" y="3108960"/>
            <a:ext cx="4023360" cy="1508760"/>
          </a:xfrm>
          <a:prstGeom prst="rect">
            <a:avLst/>
          </a:prstGeom>
          <a:solidFill>
            <a:srgbClr val="0F1C2E"/>
          </a:solidFill>
          <a:ln w="19050">
            <a:solidFill>
              <a:srgbClr val="FFB7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461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96112" y="3511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Dashboard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11480" y="37673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Zero-frontend monitoring dashboard. Shows live detections, active reroutes, confidence scores.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3108960"/>
            <a:ext cx="4023360" cy="1508760"/>
          </a:xfrm>
          <a:prstGeom prst="rect">
            <a:avLst/>
          </a:prstGeom>
          <a:solidFill>
            <a:srgbClr val="0F1C2E"/>
          </a:solidFill>
          <a:ln w="19050">
            <a:solidFill>
              <a:srgbClr val="FF4B4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2461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85232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 System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285232" y="3511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4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800600" y="37673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real-time alerts to traffic operators. Configurable thresholds per detection confidence.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12233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DATASETS:  UrbanSound8K  ·  Emergency Vehicle Dataset (Roboflow)  ·  OpenStreetMap  ·  SUMO Simulation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9144"/>
          </a:xfrm>
          <a:prstGeom prst="rect">
            <a:avLst/>
          </a:prstGeom>
          <a:solidFill>
            <a:srgbClr val="1A2E44">
              <a:alpha val="20000"/>
            </a:srgbClr>
          </a:solidFill>
          <a:ln w="12700">
            <a:solidFill>
              <a:srgbClr val="1A2E44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 SUMMARY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You Need to Build Omnisense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65760" y="1536192"/>
            <a:ext cx="8412480" cy="50292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536192"/>
            <a:ext cx="54864" cy="502920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5636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Algorithm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1563624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YOLOv8 + YAMNet + Fusion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148840"/>
            <a:ext cx="8412480" cy="50292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148840"/>
            <a:ext cx="54864" cy="5029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1762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 Stack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217627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ultralytics, OpenCV, PyTorch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2761488"/>
            <a:ext cx="8412480" cy="50292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761488"/>
            <a:ext cx="54864" cy="5029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Stack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2788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librosa, TF-Hub, scipy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374136"/>
            <a:ext cx="8412480" cy="50292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374136"/>
            <a:ext cx="54864" cy="502920"/>
          </a:xfrm>
          <a:prstGeom prst="rect">
            <a:avLst/>
          </a:prstGeom>
          <a:solidFill>
            <a:srgbClr val="39FF7A"/>
          </a:solidFill>
          <a:ln w="12700">
            <a:solidFill>
              <a:srgbClr val="39FF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401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 Stack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34015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OSMnx, NetworkX, GeoPy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3986784"/>
            <a:ext cx="8412480" cy="502920"/>
          </a:xfrm>
          <a:prstGeom prst="rect">
            <a:avLst/>
          </a:prstGeom>
          <a:solidFill>
            <a:srgbClr val="0F1C2E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986784"/>
            <a:ext cx="54864" cy="502920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0142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0" y="401421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FastAPI, MQTT, Streamlit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A1520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libraries are 100% free · Python 3.9+ · GPU optional · Deploy on any Linux server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Omnisense: Emergency Vehicle Rerouting System</dc:title>
  <dc:subject>PptxGenJS Presentation</dc:subject>
  <dc:creator>Omnisense Team</dc:creator>
  <cp:lastModifiedBy>Omnisense Team</cp:lastModifiedBy>
  <cp:revision>1</cp:revision>
  <dcterms:created xsi:type="dcterms:W3CDTF">2026-04-12T09:17:06Z</dcterms:created>
  <dcterms:modified xsi:type="dcterms:W3CDTF">2026-04-12T09:17:06Z</dcterms:modified>
</cp:coreProperties>
</file>